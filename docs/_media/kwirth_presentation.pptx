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19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3776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Kwirth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Observability &amp;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Real-time. Open Source.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24612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0.5.40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4297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Wirth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honor of Niklaus Wirth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kwirthmagnify.dev  ·  github.com/kwirthmagnify/kwirth</a:t>
            </a:r>
            <a:endParaRPr lang="en-US" sz="1100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876FFC0-87FA-0F8E-CDFF-30B36AB15CD9}"/>
              </a:ext>
            </a:extLst>
          </p:cNvPr>
          <p:cNvGrpSpPr/>
          <p:nvPr/>
        </p:nvGrpSpPr>
        <p:grpSpPr>
          <a:xfrm>
            <a:off x="5943600" y="457200"/>
            <a:ext cx="2933615" cy="3840480"/>
            <a:chOff x="5943600" y="457200"/>
            <a:chExt cx="2933615" cy="3840480"/>
          </a:xfrm>
        </p:grpSpPr>
        <p:sp>
          <p:nvSpPr>
            <p:cNvPr id="8" name="Shape 6"/>
            <p:cNvSpPr/>
            <p:nvPr/>
          </p:nvSpPr>
          <p:spPr>
            <a:xfrm>
              <a:off x="5943600" y="457200"/>
              <a:ext cx="2926080" cy="3840480"/>
            </a:xfrm>
            <a:prstGeom prst="rect">
              <a:avLst/>
            </a:prstGeom>
            <a:solidFill>
              <a:srgbClr val="1E293B"/>
            </a:solidFill>
            <a:ln/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 7"/>
            <p:cNvSpPr/>
            <p:nvPr/>
          </p:nvSpPr>
          <p:spPr>
            <a:xfrm>
              <a:off x="5943600" y="457200"/>
              <a:ext cx="2926080" cy="3840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24000" dirty="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F2E55D1-5D30-E2AA-805B-F97A258EB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5943600" y="457200"/>
              <a:ext cx="474789" cy="76216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937CDEE-A8FA-5501-98D9-799154711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6418389" y="464739"/>
              <a:ext cx="474789" cy="762162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C82BCB0-ED8D-5953-00EA-4B1C1D281C94}"/>
                </a:ext>
              </a:extLst>
            </p:cNvPr>
            <p:cNvGrpSpPr/>
            <p:nvPr/>
          </p:nvGrpSpPr>
          <p:grpSpPr>
            <a:xfrm rot="10800000">
              <a:off x="6893178" y="464739"/>
              <a:ext cx="949578" cy="769701"/>
              <a:chOff x="6893178" y="457200"/>
              <a:chExt cx="949578" cy="769701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78CA4615-7644-5A6C-092D-CD97FD9E8B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6893178" y="457200"/>
                <a:ext cx="474789" cy="762162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DC326DD8-E08E-525F-C033-A995CAD62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67967" y="464739"/>
                <a:ext cx="474789" cy="762162"/>
              </a:xfrm>
              <a:prstGeom prst="rect">
                <a:avLst/>
              </a:prstGeom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98790DF-0577-E044-4AAE-118EEDFA8D69}"/>
                </a:ext>
              </a:extLst>
            </p:cNvPr>
            <p:cNvGrpSpPr/>
            <p:nvPr/>
          </p:nvGrpSpPr>
          <p:grpSpPr>
            <a:xfrm rot="10800000">
              <a:off x="7920102" y="457200"/>
              <a:ext cx="949578" cy="769701"/>
              <a:chOff x="6893178" y="457200"/>
              <a:chExt cx="949578" cy="769701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9A9677D5-ADD5-5FB2-9953-C9F455BD40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6893178" y="457200"/>
                <a:ext cx="474789" cy="762162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23BD2854-4879-3F8C-65CD-76221E9280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7367967" y="464739"/>
                <a:ext cx="474789" cy="762162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E29AE7E-669C-25B9-42F2-A7E1E611D03F}"/>
                </a:ext>
              </a:extLst>
            </p:cNvPr>
            <p:cNvGrpSpPr/>
            <p:nvPr/>
          </p:nvGrpSpPr>
          <p:grpSpPr>
            <a:xfrm>
              <a:off x="5943600" y="1219119"/>
              <a:ext cx="2926080" cy="777240"/>
              <a:chOff x="5943600" y="1219119"/>
              <a:chExt cx="2926080" cy="777240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83F69EE2-53FA-B2C7-D29D-B7C6CA3BA9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943600" y="1219119"/>
                <a:ext cx="474789" cy="762162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F3E51C76-4A01-42E4-2D64-344643E852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6418389" y="1226658"/>
                <a:ext cx="474789" cy="762162"/>
              </a:xfrm>
              <a:prstGeom prst="rect">
                <a:avLst/>
              </a:prstGeom>
            </p:spPr>
          </p:pic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1EAC81C3-33E2-25AD-DADD-6A7765CD1AB1}"/>
                  </a:ext>
                </a:extLst>
              </p:cNvPr>
              <p:cNvGrpSpPr/>
              <p:nvPr/>
            </p:nvGrpSpPr>
            <p:grpSpPr>
              <a:xfrm rot="10800000">
                <a:off x="6893178" y="1226658"/>
                <a:ext cx="949578" cy="769701"/>
                <a:chOff x="6893178" y="457200"/>
                <a:chExt cx="949578" cy="769701"/>
              </a:xfrm>
            </p:grpSpPr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1FD4E938-F795-FBA1-03A6-542596DBCF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93178" y="457200"/>
                  <a:ext cx="474789" cy="762162"/>
                </a:xfrm>
                <a:prstGeom prst="rect">
                  <a:avLst/>
                </a:prstGeom>
              </p:spPr>
            </p:pic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2322064A-9509-91C3-D092-743B94AE90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0800000">
                  <a:off x="7367967" y="464739"/>
                  <a:ext cx="474789" cy="762162"/>
                </a:xfrm>
                <a:prstGeom prst="rect">
                  <a:avLst/>
                </a:prstGeom>
              </p:spPr>
            </p:pic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BE60ED95-FF51-0377-AC9C-2CC488B356EE}"/>
                  </a:ext>
                </a:extLst>
              </p:cNvPr>
              <p:cNvGrpSpPr/>
              <p:nvPr/>
            </p:nvGrpSpPr>
            <p:grpSpPr>
              <a:xfrm rot="10800000">
                <a:off x="7920102" y="1219119"/>
                <a:ext cx="949578" cy="769701"/>
                <a:chOff x="6893178" y="457200"/>
                <a:chExt cx="949578" cy="769701"/>
              </a:xfrm>
            </p:grpSpPr>
            <p:pic>
              <p:nvPicPr>
                <p:cNvPr id="31" name="Picture 30">
                  <a:extLst>
                    <a:ext uri="{FF2B5EF4-FFF2-40B4-BE49-F238E27FC236}">
                      <a16:creationId xmlns:a16="http://schemas.microsoft.com/office/drawing/2014/main" id="{FC8F1F18-4FF7-F3AB-56F1-6ECD2E5BBA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0800000">
                  <a:off x="6893178" y="457200"/>
                  <a:ext cx="474789" cy="762162"/>
                </a:xfrm>
                <a:prstGeom prst="rect">
                  <a:avLst/>
                </a:prstGeom>
              </p:spPr>
            </p:pic>
            <p:pic>
              <p:nvPicPr>
                <p:cNvPr id="32" name="Picture 31">
                  <a:extLst>
                    <a:ext uri="{FF2B5EF4-FFF2-40B4-BE49-F238E27FC236}">
                      <a16:creationId xmlns:a16="http://schemas.microsoft.com/office/drawing/2014/main" id="{31A85D6D-F75A-4975-159E-9D97417408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67967" y="464739"/>
                  <a:ext cx="474789" cy="76216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1A8701F-A11D-368E-7DAA-E5B016E9A09A}"/>
                </a:ext>
              </a:extLst>
            </p:cNvPr>
            <p:cNvGrpSpPr/>
            <p:nvPr/>
          </p:nvGrpSpPr>
          <p:grpSpPr>
            <a:xfrm rot="5400000">
              <a:off x="4890293" y="2430942"/>
              <a:ext cx="2926080" cy="777240"/>
              <a:chOff x="5943600" y="1219119"/>
              <a:chExt cx="2926080" cy="777240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7CF89684-BCA0-8716-B43F-7E4A54D8F9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943600" y="1219119"/>
                <a:ext cx="474789" cy="762162"/>
              </a:xfrm>
              <a:prstGeom prst="rect">
                <a:avLst/>
              </a:prstGeom>
            </p:spPr>
          </p:pic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C7BF86BF-454E-A776-7BBA-95C79DF993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8390" y="1226658"/>
                <a:ext cx="474789" cy="762162"/>
              </a:xfrm>
              <a:prstGeom prst="rect">
                <a:avLst/>
              </a:prstGeom>
            </p:spPr>
          </p:pic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5590A693-DA6F-E760-F053-C836B75BBBC3}"/>
                  </a:ext>
                </a:extLst>
              </p:cNvPr>
              <p:cNvGrpSpPr/>
              <p:nvPr/>
            </p:nvGrpSpPr>
            <p:grpSpPr>
              <a:xfrm rot="10800000">
                <a:off x="6893178" y="1226658"/>
                <a:ext cx="949578" cy="769701"/>
                <a:chOff x="6893178" y="457200"/>
                <a:chExt cx="949578" cy="769701"/>
              </a:xfrm>
            </p:grpSpPr>
            <p:pic>
              <p:nvPicPr>
                <p:cNvPr id="49" name="Picture 48">
                  <a:extLst>
                    <a:ext uri="{FF2B5EF4-FFF2-40B4-BE49-F238E27FC236}">
                      <a16:creationId xmlns:a16="http://schemas.microsoft.com/office/drawing/2014/main" id="{2D023C87-67AC-739C-8FCE-3B1991EA81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93178" y="457200"/>
                  <a:ext cx="474789" cy="762162"/>
                </a:xfrm>
                <a:prstGeom prst="rect">
                  <a:avLst/>
                </a:prstGeom>
              </p:spPr>
            </p:pic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DA1B6979-7E24-BB6A-7D69-235EADE4AA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0800000">
                  <a:off x="7367967" y="464739"/>
                  <a:ext cx="474789" cy="762162"/>
                </a:xfrm>
                <a:prstGeom prst="rect">
                  <a:avLst/>
                </a:prstGeom>
              </p:spPr>
            </p:pic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AA5F91A4-D214-BB95-93CA-32D1A2BD813F}"/>
                  </a:ext>
                </a:extLst>
              </p:cNvPr>
              <p:cNvGrpSpPr/>
              <p:nvPr/>
            </p:nvGrpSpPr>
            <p:grpSpPr>
              <a:xfrm rot="10800000">
                <a:off x="7920102" y="1219119"/>
                <a:ext cx="949578" cy="769701"/>
                <a:chOff x="6893178" y="457200"/>
                <a:chExt cx="949578" cy="769701"/>
              </a:xfrm>
            </p:grpSpPr>
            <p:pic>
              <p:nvPicPr>
                <p:cNvPr id="47" name="Picture 46">
                  <a:extLst>
                    <a:ext uri="{FF2B5EF4-FFF2-40B4-BE49-F238E27FC236}">
                      <a16:creationId xmlns:a16="http://schemas.microsoft.com/office/drawing/2014/main" id="{1B751042-EA60-F04D-2A7C-699C2A3627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93178" y="457200"/>
                  <a:ext cx="474789" cy="762162"/>
                </a:xfrm>
                <a:prstGeom prst="rect">
                  <a:avLst/>
                </a:prstGeom>
              </p:spPr>
            </p:pic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88A7065F-2E61-71E6-C2E7-86274B389D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0800000">
                  <a:off x="7367967" y="464739"/>
                  <a:ext cx="474789" cy="76216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206BE4D-6D57-E7D1-8B92-35B431F0A58C}"/>
                </a:ext>
              </a:extLst>
            </p:cNvPr>
            <p:cNvGrpSpPr/>
            <p:nvPr/>
          </p:nvGrpSpPr>
          <p:grpSpPr>
            <a:xfrm rot="5400000">
              <a:off x="5580612" y="2430942"/>
              <a:ext cx="2926080" cy="777240"/>
              <a:chOff x="5943600" y="1219119"/>
              <a:chExt cx="2926080" cy="777240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5330D79B-7199-5C7F-5F06-38EFC123FE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943600" y="1219119"/>
                <a:ext cx="474789" cy="762162"/>
              </a:xfrm>
              <a:prstGeom prst="rect">
                <a:avLst/>
              </a:prstGeom>
            </p:spPr>
          </p:pic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99DD4776-DCFC-4C4B-3118-3AEFB755D2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6418389" y="1226658"/>
                <a:ext cx="474789" cy="762162"/>
              </a:xfrm>
              <a:prstGeom prst="rect">
                <a:avLst/>
              </a:prstGeom>
            </p:spPr>
          </p:pic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3FE20DE4-E761-7A63-3F60-03ECB03AC9BE}"/>
                  </a:ext>
                </a:extLst>
              </p:cNvPr>
              <p:cNvGrpSpPr/>
              <p:nvPr/>
            </p:nvGrpSpPr>
            <p:grpSpPr>
              <a:xfrm rot="10800000">
                <a:off x="6893178" y="1226658"/>
                <a:ext cx="949578" cy="769701"/>
                <a:chOff x="6893178" y="457200"/>
                <a:chExt cx="949578" cy="769701"/>
              </a:xfrm>
            </p:grpSpPr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6CF7EB22-38DA-F40F-B47D-378FD78D21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93178" y="457200"/>
                  <a:ext cx="474789" cy="762162"/>
                </a:xfrm>
                <a:prstGeom prst="rect">
                  <a:avLst/>
                </a:prstGeom>
              </p:spPr>
            </p:pic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DBE1AC7A-C50F-2774-0F4B-340817CC2E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67967" y="464739"/>
                  <a:ext cx="474789" cy="762162"/>
                </a:xfrm>
                <a:prstGeom prst="rect">
                  <a:avLst/>
                </a:prstGeom>
              </p:spPr>
            </p:pic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A8783CA8-7887-CDA7-4FD1-AE05F431AE87}"/>
                  </a:ext>
                </a:extLst>
              </p:cNvPr>
              <p:cNvGrpSpPr/>
              <p:nvPr/>
            </p:nvGrpSpPr>
            <p:grpSpPr>
              <a:xfrm rot="10800000">
                <a:off x="7920102" y="1219119"/>
                <a:ext cx="949578" cy="769701"/>
                <a:chOff x="6893178" y="457200"/>
                <a:chExt cx="949578" cy="769701"/>
              </a:xfrm>
            </p:grpSpPr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A48630BB-D7E8-B77D-8EE3-641E321704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93178" y="457200"/>
                  <a:ext cx="474789" cy="762162"/>
                </a:xfrm>
                <a:prstGeom prst="rect">
                  <a:avLst/>
                </a:prstGeom>
              </p:spPr>
            </p:pic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B296913E-F68A-FA9C-1305-2B7C89ED50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0800000">
                  <a:off x="7367967" y="464739"/>
                  <a:ext cx="474789" cy="76216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DA18295-83E3-869F-AF6A-B4DFCE46558F}"/>
                </a:ext>
              </a:extLst>
            </p:cNvPr>
            <p:cNvGrpSpPr/>
            <p:nvPr/>
          </p:nvGrpSpPr>
          <p:grpSpPr>
            <a:xfrm rot="16200000">
              <a:off x="6335236" y="2419294"/>
              <a:ext cx="2926080" cy="777240"/>
              <a:chOff x="5943600" y="1219119"/>
              <a:chExt cx="2926080" cy="777240"/>
            </a:xfrm>
          </p:grpSpPr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1C62F34A-5266-5E5D-87E2-26ABF31476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943600" y="1219119"/>
                <a:ext cx="474789" cy="762162"/>
              </a:xfrm>
              <a:prstGeom prst="rect">
                <a:avLst/>
              </a:prstGeom>
            </p:spPr>
          </p:pic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EBA2FA22-60C7-47D5-1670-9D6D1EF5D5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6418389" y="1226658"/>
                <a:ext cx="474789" cy="762162"/>
              </a:xfrm>
              <a:prstGeom prst="rect">
                <a:avLst/>
              </a:prstGeom>
            </p:spPr>
          </p:pic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9D0F082D-0DA8-3DD5-4275-8962CAB8B371}"/>
                  </a:ext>
                </a:extLst>
              </p:cNvPr>
              <p:cNvGrpSpPr/>
              <p:nvPr/>
            </p:nvGrpSpPr>
            <p:grpSpPr>
              <a:xfrm rot="10800000">
                <a:off x="6893178" y="1226658"/>
                <a:ext cx="949578" cy="769701"/>
                <a:chOff x="6893178" y="457200"/>
                <a:chExt cx="949578" cy="769701"/>
              </a:xfrm>
            </p:grpSpPr>
            <p:pic>
              <p:nvPicPr>
                <p:cNvPr id="67" name="Picture 66">
                  <a:extLst>
                    <a:ext uri="{FF2B5EF4-FFF2-40B4-BE49-F238E27FC236}">
                      <a16:creationId xmlns:a16="http://schemas.microsoft.com/office/drawing/2014/main" id="{86345AE0-D86E-783D-2177-43FDB902F6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93178" y="457200"/>
                  <a:ext cx="474789" cy="762162"/>
                </a:xfrm>
                <a:prstGeom prst="rect">
                  <a:avLst/>
                </a:prstGeom>
              </p:spPr>
            </p:pic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902FA2AB-5B51-52A3-8843-DAE19B8FBC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67967" y="464739"/>
                  <a:ext cx="474789" cy="762162"/>
                </a:xfrm>
                <a:prstGeom prst="rect">
                  <a:avLst/>
                </a:prstGeom>
              </p:spPr>
            </p:pic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63822FD7-F4FF-9087-600D-E1F150526372}"/>
                  </a:ext>
                </a:extLst>
              </p:cNvPr>
              <p:cNvGrpSpPr/>
              <p:nvPr/>
            </p:nvGrpSpPr>
            <p:grpSpPr>
              <a:xfrm rot="10800000">
                <a:off x="7920102" y="1219119"/>
                <a:ext cx="949578" cy="769701"/>
                <a:chOff x="6893178" y="457200"/>
                <a:chExt cx="949578" cy="769701"/>
              </a:xfrm>
            </p:grpSpPr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F5FA6501-1C54-23EC-79BC-7674C0C07B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93178" y="457200"/>
                  <a:ext cx="474789" cy="762162"/>
                </a:xfrm>
                <a:prstGeom prst="rect">
                  <a:avLst/>
                </a:prstGeom>
              </p:spPr>
            </p:pic>
            <p:pic>
              <p:nvPicPr>
                <p:cNvPr id="66" name="Picture 65">
                  <a:extLst>
                    <a:ext uri="{FF2B5EF4-FFF2-40B4-BE49-F238E27FC236}">
                      <a16:creationId xmlns:a16="http://schemas.microsoft.com/office/drawing/2014/main" id="{288649ED-B191-6ABB-B241-BC4175BBEE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67967" y="464739"/>
                  <a:ext cx="474789" cy="76216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7824CA8-9917-DCD5-2861-9E2CAB3EE661}"/>
                </a:ext>
              </a:extLst>
            </p:cNvPr>
            <p:cNvGrpSpPr/>
            <p:nvPr/>
          </p:nvGrpSpPr>
          <p:grpSpPr>
            <a:xfrm rot="16200000">
              <a:off x="7025555" y="2419294"/>
              <a:ext cx="2926080" cy="777240"/>
              <a:chOff x="5943600" y="1219119"/>
              <a:chExt cx="2926080" cy="777240"/>
            </a:xfrm>
          </p:grpSpPr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117C78FA-17B2-49C1-E98E-33780983D4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43600" y="1219120"/>
                <a:ext cx="474789" cy="762162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04F60162-DEC7-8503-A2E9-EB64C8D42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6418389" y="1226658"/>
                <a:ext cx="474789" cy="762162"/>
              </a:xfrm>
              <a:prstGeom prst="rect">
                <a:avLst/>
              </a:prstGeom>
            </p:spPr>
          </p:pic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AE3C8292-F01C-725E-7328-CEEA149BB6BB}"/>
                  </a:ext>
                </a:extLst>
              </p:cNvPr>
              <p:cNvGrpSpPr/>
              <p:nvPr/>
            </p:nvGrpSpPr>
            <p:grpSpPr>
              <a:xfrm rot="10800000">
                <a:off x="6893178" y="1226658"/>
                <a:ext cx="949578" cy="769701"/>
                <a:chOff x="6893178" y="457200"/>
                <a:chExt cx="949578" cy="769701"/>
              </a:xfrm>
            </p:grpSpPr>
            <p:pic>
              <p:nvPicPr>
                <p:cNvPr id="76" name="Picture 75">
                  <a:extLst>
                    <a:ext uri="{FF2B5EF4-FFF2-40B4-BE49-F238E27FC236}">
                      <a16:creationId xmlns:a16="http://schemas.microsoft.com/office/drawing/2014/main" id="{F721C393-DD43-E5A5-2B57-3DD2EAB8C0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93178" y="457200"/>
                  <a:ext cx="474789" cy="762162"/>
                </a:xfrm>
                <a:prstGeom prst="rect">
                  <a:avLst/>
                </a:prstGeom>
              </p:spPr>
            </p:pic>
            <p:pic>
              <p:nvPicPr>
                <p:cNvPr id="77" name="Picture 76">
                  <a:extLst>
                    <a:ext uri="{FF2B5EF4-FFF2-40B4-BE49-F238E27FC236}">
                      <a16:creationId xmlns:a16="http://schemas.microsoft.com/office/drawing/2014/main" id="{7486303D-FF3D-AD2E-3894-9AD52A1416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0800000">
                  <a:off x="7367967" y="464739"/>
                  <a:ext cx="474789" cy="762162"/>
                </a:xfrm>
                <a:prstGeom prst="rect">
                  <a:avLst/>
                </a:prstGeom>
              </p:spPr>
            </p:pic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9ECD7024-8DAE-528B-8BFF-7525D46F2DAE}"/>
                  </a:ext>
                </a:extLst>
              </p:cNvPr>
              <p:cNvGrpSpPr/>
              <p:nvPr/>
            </p:nvGrpSpPr>
            <p:grpSpPr>
              <a:xfrm rot="10800000">
                <a:off x="7920102" y="1219119"/>
                <a:ext cx="949578" cy="769701"/>
                <a:chOff x="6893178" y="457200"/>
                <a:chExt cx="949578" cy="769701"/>
              </a:xfrm>
            </p:grpSpPr>
            <p:pic>
              <p:nvPicPr>
                <p:cNvPr id="74" name="Picture 73">
                  <a:extLst>
                    <a:ext uri="{FF2B5EF4-FFF2-40B4-BE49-F238E27FC236}">
                      <a16:creationId xmlns:a16="http://schemas.microsoft.com/office/drawing/2014/main" id="{95831254-F942-A69F-6B78-7D87EE7986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93178" y="457200"/>
                  <a:ext cx="474789" cy="762162"/>
                </a:xfrm>
                <a:prstGeom prst="rect">
                  <a:avLst/>
                </a:prstGeom>
              </p:spPr>
            </p:pic>
            <p:pic>
              <p:nvPicPr>
                <p:cNvPr id="75" name="Picture 74">
                  <a:extLst>
                    <a:ext uri="{FF2B5EF4-FFF2-40B4-BE49-F238E27FC236}">
                      <a16:creationId xmlns:a16="http://schemas.microsoft.com/office/drawing/2014/main" id="{BE1C9D38-6843-5D5D-4BD6-028B090CBB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0800000">
                  <a:off x="7367967" y="464739"/>
                  <a:ext cx="474789" cy="762162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6DB0FE5-B8C9-78B8-B2F5-172EF1EE8AD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615"/>
          <a:stretch>
            <a:fillRect/>
          </a:stretch>
        </p:blipFill>
        <p:spPr>
          <a:xfrm>
            <a:off x="6670107" y="1460028"/>
            <a:ext cx="1796247" cy="18143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for?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&amp; manage Kubernetes can be… complex and hard.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31920" cy="914400"/>
          </a:xfrm>
          <a:prstGeom prst="rect">
            <a:avLst/>
          </a:prstGeom>
          <a:solidFill>
            <a:srgbClr val="FFF1F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4008" cy="91440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priceful, heavy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3931920" cy="914400"/>
          </a:xfrm>
          <a:prstGeom prst="rect">
            <a:avLst/>
          </a:prstGeom>
          <a:solidFill>
            <a:srgbClr val="FFF1F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64008" cy="91440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but too much config and storage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931920" cy="914400"/>
          </a:xfrm>
          <a:prstGeom prst="rect">
            <a:avLst/>
          </a:prstGeom>
          <a:solidFill>
            <a:srgbClr val="FFF1F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64008" cy="91440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80060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Dynatrace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Expensive. Very expensive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606040"/>
            <a:ext cx="3931920" cy="914400"/>
          </a:xfrm>
          <a:prstGeom prst="rect">
            <a:avLst/>
          </a:prstGeom>
          <a:solidFill>
            <a:srgbClr val="FFF1F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663440" y="2606040"/>
            <a:ext cx="64008" cy="91440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80060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logs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Functional, but (very) limited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24251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¿What if you can find something simpler, that can be started with just a </a:t>
            </a:r>
            <a:r>
              <a:rPr lang="en-US" sz="1700" b="1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</a:t>
            </a:r>
            <a:r>
              <a:rPr lang="en-US" sz="1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apply?</a:t>
            </a:r>
            <a:endParaRPr lang="en-US" sz="17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62171D9E-7936-33C2-FDC4-DBA55FC56824}"/>
              </a:ext>
            </a:extLst>
          </p:cNvPr>
          <p:cNvSpPr/>
          <p:nvPr/>
        </p:nvSpPr>
        <p:spPr>
          <a:xfrm>
            <a:off x="457200" y="3703320"/>
            <a:ext cx="3931920" cy="914400"/>
          </a:xfrm>
          <a:prstGeom prst="rect">
            <a:avLst/>
          </a:prstGeom>
          <a:solidFill>
            <a:srgbClr val="FFF1F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59DE7459-7715-69DB-5605-6AB6CA385DCD}"/>
              </a:ext>
            </a:extLst>
          </p:cNvPr>
          <p:cNvSpPr/>
          <p:nvPr/>
        </p:nvSpPr>
        <p:spPr>
          <a:xfrm>
            <a:off x="457200" y="3703320"/>
            <a:ext cx="64008" cy="91440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0627EB74-4CAF-6F31-5BA4-06A7D73C64C4}"/>
              </a:ext>
            </a:extLst>
          </p:cNvPr>
          <p:cNvSpPr/>
          <p:nvPr/>
        </p:nvSpPr>
        <p:spPr>
          <a:xfrm>
            <a:off x="5943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</a:t>
            </a:r>
            <a:endParaRPr lang="en-US" sz="15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83B0FE7A-8885-0C82-3CE5-86A648280879}"/>
              </a:ext>
            </a:extLst>
          </p:cNvPr>
          <p:cNvSpPr/>
          <p:nvPr/>
        </p:nvSpPr>
        <p:spPr>
          <a:xfrm>
            <a:off x="59436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desktop experience, high resource consumption</a:t>
            </a:r>
            <a:endParaRPr lang="en-US" sz="1300" dirty="0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C409F151-078E-C2C8-6ACC-6D453695ED3E}"/>
              </a:ext>
            </a:extLst>
          </p:cNvPr>
          <p:cNvSpPr/>
          <p:nvPr/>
        </p:nvSpPr>
        <p:spPr>
          <a:xfrm>
            <a:off x="4663440" y="3703320"/>
            <a:ext cx="3931920" cy="914400"/>
          </a:xfrm>
          <a:prstGeom prst="rect">
            <a:avLst/>
          </a:prstGeom>
          <a:solidFill>
            <a:srgbClr val="FFF1F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99B71866-EE13-0221-328D-D38A6963B5C3}"/>
              </a:ext>
            </a:extLst>
          </p:cNvPr>
          <p:cNvSpPr/>
          <p:nvPr/>
        </p:nvSpPr>
        <p:spPr>
          <a:xfrm>
            <a:off x="4663440" y="3703320"/>
            <a:ext cx="64008" cy="91440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7F764987-7375-3ACA-E0A7-AE46891E8376}"/>
              </a:ext>
            </a:extLst>
          </p:cNvPr>
          <p:cNvSpPr/>
          <p:nvPr/>
        </p:nvSpPr>
        <p:spPr>
          <a:xfrm>
            <a:off x="48006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K9s</a:t>
            </a:r>
            <a:endParaRPr lang="en-US" sz="1500" dirty="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0E84D75A-D295-EA04-DA0A-59963E0E61CB}"/>
              </a:ext>
            </a:extLst>
          </p:cNvPr>
          <p:cNvSpPr/>
          <p:nvPr/>
        </p:nvSpPr>
        <p:spPr>
          <a:xfrm>
            <a:off x="480060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Functional, but just console and very limited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Kwirth?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4008" cy="1828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OSS </a:t>
            </a: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 for Kubernetes.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pod. No persistence. No PVs or PVCs.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metrics, alerts, events, management — in real time.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06324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pod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deploying it 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42032" y="306324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542032" y="3200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42032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channels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18304" y="306324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18304" y="3200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18304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needs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94576" y="306324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894576" y="3200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94576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https://...</a:t>
            </a:r>
            <a:r>
              <a:rPr lang="en-US" sz="120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kwirth.yaml</a:t>
            </a: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that’s all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Kwirth = Kubernetes + Wirth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Niklaus Wirth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of Pascal, Modula, Oberon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 Turing Award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Wirth's Law: "Software is getting slower more rapidly than hardware is becoming faster“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away on January 1, 2024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3840480" cy="640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Magnify &amp; our logo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stylized "K" in the style of Roy Lichtenstein.</a:t>
            </a:r>
          </a:p>
          <a:p>
            <a:pPr marL="0" indent="0">
              <a:buNone/>
            </a:pPr>
            <a:endParaRPr lang="en-US" sz="13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he used Ben-Day dots to create art from comics, Kwirth takes the cluster's "dots" (logs, metrics, events) and magnifies them into something clear and visual.</a:t>
            </a:r>
          </a:p>
          <a:p>
            <a:pPr marL="0" indent="0">
              <a:buNone/>
            </a:pPr>
            <a:endParaRPr lang="en-US" sz="13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Magnify: the management channel + the desktop app.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a channel — pluggable, independent, extensible.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64008" cy="105156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log streaming in real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7432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64008" cy="105156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42900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I/O, bandwidth…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7432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64008" cy="10515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5508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Log-based alerting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27432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64008" cy="105156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02920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Trivy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2944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100%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468880"/>
            <a:ext cx="27432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291840" y="2468880"/>
            <a:ext cx="64008" cy="105156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429000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29000" y="2944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Shell, restarts, cluster info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468880"/>
            <a:ext cx="27432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217920" y="2468880"/>
            <a:ext cx="64008" cy="105156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355080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Fileman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2944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Containers’ filesystems access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703320"/>
            <a:ext cx="27432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365760" y="3703320"/>
            <a:ext cx="64008" cy="105156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02920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Magnify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" y="4178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Kubernetes management platform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91840" y="3703320"/>
            <a:ext cx="27432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3291840" y="3703320"/>
            <a:ext cx="64008" cy="1051560"/>
          </a:xfrm>
          <a:prstGeom prst="rect">
            <a:avLst/>
          </a:prstGeom>
          <a:solidFill>
            <a:srgbClr val="E879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3429000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9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Pinocchio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429000" y="4178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extended with LLM / AI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3703320"/>
            <a:ext cx="27432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6217920" y="3703320"/>
            <a:ext cx="64008" cy="105156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355080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Echo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55080" y="4178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channel for channel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65760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(Node.js / TypeScript)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291840" cy="5303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Kwirth Core (WebSockets, seguridad)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3291840" cy="5303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Channels (Log, Metrics, Alert…)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43784"/>
            <a:ext cx="3291840" cy="5303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85800" y="2907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11296"/>
            <a:ext cx="3291840" cy="5303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85800" y="3575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in etcd (secrets + configmaps)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2468880"/>
            <a:ext cx="100584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023360" y="2116185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/ HTTP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914400"/>
            <a:ext cx="365760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12064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 / TypeScript)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0" y="1508760"/>
            <a:ext cx="3291840" cy="5303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349240" y="1572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Front App (auth, store, routing)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2176272"/>
            <a:ext cx="3291840" cy="5303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349240" y="2240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Channels (plug &amp; play)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2080" y="2843784"/>
            <a:ext cx="3291840" cy="5303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349240" y="2907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Kwirth Desktop (Electron)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12080" y="3511296"/>
            <a:ext cx="3291840" cy="5303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349240" y="3575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Kubernetes  ·  Docker  ·  Standalone (npm)  ·  Desktop App (Electron)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96596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2344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" y="2194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450592" y="1097280"/>
            <a:ext cx="196596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2344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50592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450592" y="2194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+ Back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626864" y="1097280"/>
            <a:ext cx="196596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12344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26864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626864" y="2194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803136" y="1097280"/>
            <a:ext cx="196596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123444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03136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803136" y="2194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runtime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450592" y="2834640"/>
            <a:ext cx="196596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297180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450592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2450592" y="3931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626864" y="2834640"/>
            <a:ext cx="196596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76672" y="2971800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626864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4626864" y="3931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packaging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803136" y="2834640"/>
            <a:ext cx="196596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2944" y="2971800"/>
            <a:ext cx="502920" cy="5029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03136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6803136" y="3931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website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real-time data streaming ·  </a:t>
            </a:r>
            <a:r>
              <a:rPr lang="en-US" sz="11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storage (via Kubernetes secrets/configmaps)</a:t>
            </a:r>
            <a:endParaRPr lang="en-US" sz="1100" dirty="0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4BAB5776-F8D8-CC72-BACA-F8FC29EF52E8}"/>
              </a:ext>
            </a:extLst>
          </p:cNvPr>
          <p:cNvSpPr/>
          <p:nvPr/>
        </p:nvSpPr>
        <p:spPr>
          <a:xfrm>
            <a:off x="274320" y="2834640"/>
            <a:ext cx="196596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5359AF1B-072B-8ABD-FD65-6374A112F22A}"/>
              </a:ext>
            </a:extLst>
          </p:cNvPr>
          <p:cNvSpPr/>
          <p:nvPr/>
        </p:nvSpPr>
        <p:spPr>
          <a:xfrm>
            <a:off x="274320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MUI</a:t>
            </a:r>
            <a:endParaRPr lang="en-US" sz="1400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C2C89449-78E6-7408-B659-F5355237DC62}"/>
              </a:ext>
            </a:extLst>
          </p:cNvPr>
          <p:cNvSpPr/>
          <p:nvPr/>
        </p:nvSpPr>
        <p:spPr>
          <a:xfrm>
            <a:off x="274320" y="3931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library</a:t>
            </a:r>
            <a:endParaRPr lang="en-US" sz="1100" dirty="0"/>
          </a:p>
        </p:txBody>
      </p:sp>
      <p:pic>
        <p:nvPicPr>
          <p:cNvPr id="1026" name="Picture 2" descr="React 开源项目、教程与资源｜无噪">
            <a:extLst>
              <a:ext uri="{FF2B5EF4-FFF2-40B4-BE49-F238E27FC236}">
                <a16:creationId xmlns:a16="http://schemas.microsoft.com/office/drawing/2014/main" id="{80B3B86D-4EBB-C156-42C7-9F0B4CE9D5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5" t="14058" r="10955" b="14058"/>
          <a:stretch>
            <a:fillRect/>
          </a:stretch>
        </p:blipFill>
        <p:spPr bwMode="auto">
          <a:xfrm>
            <a:off x="914360" y="2976154"/>
            <a:ext cx="685879" cy="63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deploy Kwirth?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64008" cy="1600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30352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30352" y="1472184"/>
            <a:ext cx="3566160" cy="30175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66928" y="1472184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</a:t>
            </a:r>
            <a:r>
              <a:rPr lang="en-US" sz="1100" dirty="0" err="1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kwirth.yaml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028825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Kwirth inside-cluster with direct access to Kubernetes API.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64008" cy="16002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30352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30352" y="3346704"/>
            <a:ext cx="3566160" cy="30175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66928" y="3346704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kwirth kwirth/kwirth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7307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and flexible chart for deploying via Helm</a:t>
            </a:r>
            <a:endParaRPr lang="en-US" sz="1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8194B4-80E9-63FB-4C36-6EE93E146760}"/>
              </a:ext>
            </a:extLst>
          </p:cNvPr>
          <p:cNvGrpSpPr/>
          <p:nvPr/>
        </p:nvGrpSpPr>
        <p:grpSpPr>
          <a:xfrm>
            <a:off x="4663440" y="960120"/>
            <a:ext cx="4023360" cy="1600200"/>
            <a:chOff x="4663440" y="960120"/>
            <a:chExt cx="4023360" cy="1600200"/>
          </a:xfrm>
        </p:grpSpPr>
        <p:sp>
          <p:nvSpPr>
            <p:cNvPr id="15" name="Shape 13"/>
            <p:cNvSpPr/>
            <p:nvPr/>
          </p:nvSpPr>
          <p:spPr>
            <a:xfrm>
              <a:off x="4663440" y="960120"/>
              <a:ext cx="4023360" cy="16002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Shape 14"/>
            <p:cNvSpPr/>
            <p:nvPr/>
          </p:nvSpPr>
          <p:spPr>
            <a:xfrm>
              <a:off x="4663440" y="960120"/>
              <a:ext cx="64008" cy="1600200"/>
            </a:xfrm>
            <a:prstGeom prst="rect">
              <a:avLst/>
            </a:prstGeom>
            <a:solidFill>
              <a:srgbClr val="2496ED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 15"/>
            <p:cNvSpPr/>
            <p:nvPr/>
          </p:nvSpPr>
          <p:spPr>
            <a:xfrm>
              <a:off x="4828032" y="105156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0F172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Docker</a:t>
              </a:r>
              <a:endParaRPr lang="en-US" sz="17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828032" y="1472184"/>
              <a:ext cx="3566160" cy="301752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 17"/>
            <p:cNvSpPr/>
            <p:nvPr/>
          </p:nvSpPr>
          <p:spPr>
            <a:xfrm>
              <a:off x="4864608" y="1472184"/>
              <a:ext cx="352044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2496E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docker run kwirthmagnify/kwirth</a:t>
              </a:r>
              <a:endParaRPr lang="en-US" sz="11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828032" y="1856232"/>
              <a:ext cx="36576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 is the perfect solution if you want to run Kwirth out-of-cluster, using your own </a:t>
              </a:r>
              <a:r>
                <a:rPr lang="en-US" sz="12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kubeconfig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200" dirty="0"/>
            </a:p>
          </p:txBody>
        </p:sp>
      </p:grpSp>
      <p:sp>
        <p:nvSpPr>
          <p:cNvPr id="21" name="Shape 19"/>
          <p:cNvSpPr/>
          <p:nvPr/>
        </p:nvSpPr>
        <p:spPr>
          <a:xfrm>
            <a:off x="4663440" y="283464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64008" cy="160020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28032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Desktop (Electron)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828032" y="3346704"/>
            <a:ext cx="3566160" cy="30175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864608" y="3346704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from kwirthmagnify.dev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37307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&amp; Linux. Like Lens/K9s, but with the power of Kwirth.</a:t>
            </a:r>
            <a:endParaRPr lang="en-US" sz="1200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92F21A8D-4AB9-C353-9664-C399203E5044}"/>
              </a:ext>
            </a:extLst>
          </p:cNvPr>
          <p:cNvSpPr/>
          <p:nvPr/>
        </p:nvSpPr>
        <p:spPr>
          <a:xfrm>
            <a:off x="521208" y="1828800"/>
            <a:ext cx="3566160" cy="30175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7D2E2A17-07FD-FB9E-1EBE-E953FDCC5819}"/>
              </a:ext>
            </a:extLst>
          </p:cNvPr>
          <p:cNvSpPr/>
          <p:nvPr/>
        </p:nvSpPr>
        <p:spPr>
          <a:xfrm>
            <a:off x="557784" y="182880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kwirth kwirth/kwirth -n kwirth \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--create-namespace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D03269-BCA1-B8E7-39AD-08D42718A4C2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Kwirth family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C7B1F8-BF48-4CFB-FC54-C1719C13C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753305"/>
            <a:ext cx="6149734" cy="4390195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9354C61-8495-5C43-0503-FC6206CE90F8}"/>
              </a:ext>
            </a:extLst>
          </p:cNvPr>
          <p:cNvSpPr/>
          <p:nvPr/>
        </p:nvSpPr>
        <p:spPr>
          <a:xfrm>
            <a:off x="3020314" y="3241962"/>
            <a:ext cx="914400" cy="914400"/>
          </a:xfrm>
          <a:prstGeom prst="ellipse">
            <a:avLst/>
          </a:prstGeom>
          <a:solidFill>
            <a:srgbClr val="FF0000">
              <a:alpha val="26000"/>
            </a:srgbClr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2C1692-902F-FDFB-DF1E-BC171DCB62C0}"/>
              </a:ext>
            </a:extLst>
          </p:cNvPr>
          <p:cNvSpPr/>
          <p:nvPr/>
        </p:nvSpPr>
        <p:spPr>
          <a:xfrm>
            <a:off x="1413187" y="4206759"/>
            <a:ext cx="731520" cy="731520"/>
          </a:xfrm>
          <a:prstGeom prst="ellipse">
            <a:avLst/>
          </a:prstGeom>
          <a:solidFill>
            <a:srgbClr val="FF0000">
              <a:alpha val="26000"/>
            </a:srgbClr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C8161B4-B952-F838-5547-30EBD29AA230}"/>
              </a:ext>
            </a:extLst>
          </p:cNvPr>
          <p:cNvGrpSpPr/>
          <p:nvPr/>
        </p:nvGrpSpPr>
        <p:grpSpPr>
          <a:xfrm>
            <a:off x="6911416" y="935576"/>
            <a:ext cx="1973580" cy="3595255"/>
            <a:chOff x="7018020" y="669867"/>
            <a:chExt cx="1600200" cy="4023360"/>
          </a:xfrm>
        </p:grpSpPr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8732044A-D78B-83B3-0F82-D5DA29C3F70A}"/>
                </a:ext>
              </a:extLst>
            </p:cNvPr>
            <p:cNvSpPr/>
            <p:nvPr/>
          </p:nvSpPr>
          <p:spPr>
            <a:xfrm rot="5400000">
              <a:off x="5806440" y="1881447"/>
              <a:ext cx="4023360" cy="16002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D840B8ED-9F2D-8F59-A947-2E38AC8974AF}"/>
                </a:ext>
              </a:extLst>
            </p:cNvPr>
            <p:cNvSpPr/>
            <p:nvPr/>
          </p:nvSpPr>
          <p:spPr>
            <a:xfrm rot="5400000">
              <a:off x="7786116" y="-98229"/>
              <a:ext cx="64008" cy="1600200"/>
            </a:xfrm>
            <a:prstGeom prst="rect">
              <a:avLst/>
            </a:prstGeom>
            <a:solidFill>
              <a:srgbClr val="2496ED"/>
            </a:solidFill>
            <a:ln/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1" name="Text 15">
            <a:extLst>
              <a:ext uri="{FF2B5EF4-FFF2-40B4-BE49-F238E27FC236}">
                <a16:creationId xmlns:a16="http://schemas.microsoft.com/office/drawing/2014/main" id="{853458E5-398B-BD37-E2F2-34A8D6CD6DA6}"/>
              </a:ext>
            </a:extLst>
          </p:cNvPr>
          <p:cNvSpPr/>
          <p:nvPr/>
        </p:nvSpPr>
        <p:spPr>
          <a:xfrm>
            <a:off x="6911416" y="1144087"/>
            <a:ext cx="1973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7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3B5BE4-9F5D-12AC-C4C8-FF4B6F914BFE}"/>
              </a:ext>
            </a:extLst>
          </p:cNvPr>
          <p:cNvGrpSpPr/>
          <p:nvPr/>
        </p:nvGrpSpPr>
        <p:grpSpPr>
          <a:xfrm>
            <a:off x="7018096" y="1654350"/>
            <a:ext cx="1771651" cy="792584"/>
            <a:chOff x="6172200" y="2466663"/>
            <a:chExt cx="3566160" cy="315468"/>
          </a:xfrm>
        </p:grpSpPr>
        <p:sp>
          <p:nvSpPr>
            <p:cNvPr id="22" name="Shape 16">
              <a:extLst>
                <a:ext uri="{FF2B5EF4-FFF2-40B4-BE49-F238E27FC236}">
                  <a16:creationId xmlns:a16="http://schemas.microsoft.com/office/drawing/2014/main" id="{6DA16921-9E13-BB5B-D218-5CCB757AA4DA}"/>
                </a:ext>
              </a:extLst>
            </p:cNvPr>
            <p:cNvSpPr/>
            <p:nvPr/>
          </p:nvSpPr>
          <p:spPr>
            <a:xfrm>
              <a:off x="6172200" y="2466663"/>
              <a:ext cx="3566160" cy="301752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22FD3A38-B55F-426F-E44C-A7DA41CCD323}"/>
                </a:ext>
              </a:extLst>
            </p:cNvPr>
            <p:cNvSpPr/>
            <p:nvPr/>
          </p:nvSpPr>
          <p:spPr>
            <a:xfrm>
              <a:off x="6402273" y="2480379"/>
              <a:ext cx="3313229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Same codebase, three different deployment options</a:t>
              </a:r>
            </a:p>
            <a:p>
              <a:pPr marL="0" indent="0">
                <a:buNone/>
              </a:pPr>
              <a:endParaRPr lang="en-US" sz="11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CFD1558-074B-0E66-B968-F759D86BA4BC}"/>
              </a:ext>
            </a:extLst>
          </p:cNvPr>
          <p:cNvGrpSpPr/>
          <p:nvPr/>
        </p:nvGrpSpPr>
        <p:grpSpPr>
          <a:xfrm>
            <a:off x="7029453" y="2639753"/>
            <a:ext cx="1771651" cy="792587"/>
            <a:chOff x="6172200" y="2466662"/>
            <a:chExt cx="3566160" cy="315469"/>
          </a:xfrm>
        </p:grpSpPr>
        <p:sp>
          <p:nvSpPr>
            <p:cNvPr id="28" name="Shape 16">
              <a:extLst>
                <a:ext uri="{FF2B5EF4-FFF2-40B4-BE49-F238E27FC236}">
                  <a16:creationId xmlns:a16="http://schemas.microsoft.com/office/drawing/2014/main" id="{D8717606-5F9D-D851-B8AD-4504DF00F458}"/>
                </a:ext>
              </a:extLst>
            </p:cNvPr>
            <p:cNvSpPr/>
            <p:nvPr/>
          </p:nvSpPr>
          <p:spPr>
            <a:xfrm>
              <a:off x="6172200" y="2466662"/>
              <a:ext cx="3566160" cy="301752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Text 17">
              <a:extLst>
                <a:ext uri="{FF2B5EF4-FFF2-40B4-BE49-F238E27FC236}">
                  <a16:creationId xmlns:a16="http://schemas.microsoft.com/office/drawing/2014/main" id="{F61387B1-E720-DDC3-F1A2-4F01B3212C7F}"/>
                </a:ext>
              </a:extLst>
            </p:cNvPr>
            <p:cNvSpPr/>
            <p:nvPr/>
          </p:nvSpPr>
          <p:spPr>
            <a:xfrm>
              <a:off x="6379412" y="2480379"/>
              <a:ext cx="3336087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interoperability &amp; interchangeability</a:t>
              </a:r>
            </a:p>
            <a:p>
              <a:pPr marL="0" indent="0">
                <a:buNone/>
              </a:pPr>
              <a:endParaRPr lang="en-US" sz="11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F27B7A5-B19C-54DB-E67D-4ADDBCCE95F8}"/>
              </a:ext>
            </a:extLst>
          </p:cNvPr>
          <p:cNvGrpSpPr/>
          <p:nvPr/>
        </p:nvGrpSpPr>
        <p:grpSpPr>
          <a:xfrm>
            <a:off x="7029453" y="3629487"/>
            <a:ext cx="1771651" cy="792584"/>
            <a:chOff x="6172200" y="2466663"/>
            <a:chExt cx="3566160" cy="315468"/>
          </a:xfrm>
        </p:grpSpPr>
        <p:sp>
          <p:nvSpPr>
            <p:cNvPr id="31" name="Shape 16">
              <a:extLst>
                <a:ext uri="{FF2B5EF4-FFF2-40B4-BE49-F238E27FC236}">
                  <a16:creationId xmlns:a16="http://schemas.microsoft.com/office/drawing/2014/main" id="{DA2434F2-F86F-3651-1A21-5B301185F9E1}"/>
                </a:ext>
              </a:extLst>
            </p:cNvPr>
            <p:cNvSpPr/>
            <p:nvPr/>
          </p:nvSpPr>
          <p:spPr>
            <a:xfrm>
              <a:off x="6172200" y="2466663"/>
              <a:ext cx="3566160" cy="301752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Text 17">
              <a:extLst>
                <a:ext uri="{FF2B5EF4-FFF2-40B4-BE49-F238E27FC236}">
                  <a16:creationId xmlns:a16="http://schemas.microsoft.com/office/drawing/2014/main" id="{0BCAB4CD-BD60-D31B-6A31-B2678E6E3272}"/>
                </a:ext>
              </a:extLst>
            </p:cNvPr>
            <p:cNvSpPr/>
            <p:nvPr/>
          </p:nvSpPr>
          <p:spPr>
            <a:xfrm>
              <a:off x="6356552" y="2480379"/>
              <a:ext cx="3358948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Front/back fully decoupled. 100% </a:t>
              </a:r>
              <a:r>
                <a:rPr lang="en-US" sz="12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APIfied</a:t>
              </a:r>
              <a:endPara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7F01C2A6-4A0E-7004-7264-ADAE87E8F7FE}"/>
              </a:ext>
            </a:extLst>
          </p:cNvPr>
          <p:cNvSpPr/>
          <p:nvPr/>
        </p:nvSpPr>
        <p:spPr>
          <a:xfrm>
            <a:off x="2624111" y="2542565"/>
            <a:ext cx="914400" cy="914400"/>
          </a:xfrm>
          <a:prstGeom prst="ellipse">
            <a:avLst/>
          </a:prstGeom>
          <a:solidFill>
            <a:srgbClr val="FF0000">
              <a:alpha val="26000"/>
            </a:srgbClr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88303E6-1EB0-8C76-A56C-A593761ADF76}"/>
              </a:ext>
            </a:extLst>
          </p:cNvPr>
          <p:cNvSpPr/>
          <p:nvPr/>
        </p:nvSpPr>
        <p:spPr>
          <a:xfrm>
            <a:off x="5168659" y="1307917"/>
            <a:ext cx="914400" cy="914400"/>
          </a:xfrm>
          <a:prstGeom prst="ellipse">
            <a:avLst/>
          </a:prstGeom>
          <a:solidFill>
            <a:srgbClr val="FF0000">
              <a:alpha val="26000"/>
            </a:srgbClr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9911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82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38535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DEMO ]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39119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Let’s see Kwirth in action 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2076994"/>
            <a:ext cx="64008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554480" y="2076994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Real time log streaming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2625634"/>
            <a:ext cx="64008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554480" y="2625634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Namespaces &amp; pod metrics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71600" y="3722914"/>
            <a:ext cx="64008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554480" y="3722914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Magnify channel — cluster management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4271554"/>
            <a:ext cx="64008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554480" y="4271554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Pinocchio — ask your LLM about your cluster</a:t>
            </a:r>
            <a:endParaRPr lang="en-US" sz="15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9F36C51D-57EA-5028-932C-1E0CC8A00790}"/>
              </a:ext>
            </a:extLst>
          </p:cNvPr>
          <p:cNvSpPr/>
          <p:nvPr/>
        </p:nvSpPr>
        <p:spPr>
          <a:xfrm>
            <a:off x="1371600" y="3174274"/>
            <a:ext cx="64008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544036D-6EFA-D449-8DD3-52C4A0218430}"/>
              </a:ext>
            </a:extLst>
          </p:cNvPr>
          <p:cNvSpPr/>
          <p:nvPr/>
        </p:nvSpPr>
        <p:spPr>
          <a:xfrm>
            <a:off x="1554480" y="3174274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Mor fun stuff with Fileman &amp; </a:t>
            </a:r>
            <a:r>
              <a:rPr lang="en-US" sz="15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Ready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484632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Helm chart deployment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393192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 time aggregable metrics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69464"/>
            <a:ext cx="3931920" cy="484632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Event streaming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45536"/>
            <a:ext cx="393192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02920" y="319125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WebSocket multi-instance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21608"/>
            <a:ext cx="3931920" cy="484632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02920" y="376732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 channels (</a:t>
            </a:r>
            <a:r>
              <a:rPr lang="en-US" sz="1200" dirty="0" err="1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observabilitu</a:t>
            </a: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management)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297680"/>
            <a:ext cx="393192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 ephemeral (alerting without storage)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914400"/>
            <a:ext cx="3931920" cy="41148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93776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In the pipeline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1417320"/>
            <a:ext cx="3931920" cy="484632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983480" y="146304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Alerts based on metrics (thresholds)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993392"/>
            <a:ext cx="393192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983480" y="203911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Pinocchio (more AI)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569464"/>
            <a:ext cx="3931920" cy="484632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983480" y="261518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Session management, SSO, IdP, IAM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145536"/>
            <a:ext cx="393192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983480" y="319125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External notifiers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721608"/>
            <a:ext cx="3931920" cy="484632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983480" y="376732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provider, </a:t>
            </a:r>
            <a:r>
              <a:rPr lang="en-US" sz="12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support (</a:t>
            </a:r>
            <a:r>
              <a:rPr lang="en-US" sz="12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flux, </a:t>
            </a:r>
            <a:r>
              <a:rPr lang="en-US" sz="12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kustomize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4297680"/>
            <a:ext cx="393192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983480" y="434340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Plugin system like Backstage or Grafana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can you do?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Kwirth has been designed fer receiving everyone’s help, adding the value that comes from each one’s effort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4114800" cy="16002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384048"/>
          </a:xfrm>
          <a:prstGeom prst="rect">
            <a:avLst/>
          </a:prstGeom>
          <a:solidFill>
            <a:srgbClr val="61DAFB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11480" y="13624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React MUI channels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UX/UI improvements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Desktop app (Electron, Tauri) and Mac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334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version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114800" cy="16002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4114800" cy="384048"/>
          </a:xfrm>
          <a:prstGeom prst="rect">
            <a:avLst/>
          </a:prstGeom>
          <a:solidFill>
            <a:srgbClr val="339933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46320" y="13624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92040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more back-channels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OpenShift support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359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WebSocket features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6334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providers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4114800" cy="16002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4114800" cy="384048"/>
          </a:xfrm>
          <a:prstGeom prst="rect">
            <a:avLst/>
          </a:prstGeom>
          <a:solidFill>
            <a:srgbClr val="FBBF24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11480" y="31455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 / Testers</a:t>
            </a:r>
            <a:endParaRPr lang="en-US" sz="1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3593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E2E tests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867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Channel testing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142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coverage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416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Trivy integration testing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108960"/>
            <a:ext cx="4114800" cy="16002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709160" y="3108960"/>
            <a:ext cx="4114800" cy="384048"/>
          </a:xfrm>
          <a:prstGeom prst="rect">
            <a:avLst/>
          </a:prstGeom>
          <a:solidFill>
            <a:srgbClr val="A78BFA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846320" y="31455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92040" y="3593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a plugin system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867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&amp; scaling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4142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Multi-cluster strategy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4416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Channel spec evolution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join the project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777240" cy="8686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 the repo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0" y="1005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github.com/kwirthmagnify/kwirth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README and the docs on the website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777240" cy="8686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2029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your own environment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20116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v22+,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Docker.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developing guide for building a new channel.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777240" cy="8686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80160" y="3035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where to 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0" y="30175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 in GitHub if needed. Comment about everything you like and dislike, propose a new idea. All profile s are welcomed</a:t>
            </a:r>
            <a:r>
              <a:rPr lang="en-US" sz="1200" dirty="0"/>
              <a:t>.</a:t>
            </a:r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777240" cy="8686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65760" y="397764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40416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31920" y="4023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&amp; open a PR. We review it quickly,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is small and you’ll get direct feedback.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to join?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7432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Real 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React, Node.js, Kubernetes.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already know and use.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960120"/>
            <a:ext cx="27432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383280" y="10698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Work deeply with K8s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Kwirth will lead you to learn a lot of Kubernetes.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960120"/>
            <a:ext cx="27432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309360" y="10698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OSS in your CV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open project with real people.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more than a private side project.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27432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Small community = great impact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 big projects gives you low visibility.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your PR changes something real.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2834640"/>
            <a:ext cx="27432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83280" y="2944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Modern architecture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system, channels,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streaming, AI. No legacy.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2834640"/>
            <a:ext cx="27432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309360" y="2944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Real needs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observability and management is a problem everyone needs to face.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F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371600" y="1691640"/>
            <a:ext cx="6400800" cy="62179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371600" y="1691640"/>
            <a:ext cx="54864" cy="62179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508760" y="1764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764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kwirthmagnify.dev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496312"/>
            <a:ext cx="6400800" cy="62179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371600" y="2496312"/>
            <a:ext cx="54864" cy="62179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5694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github.com/kwirthmagnify/kwirth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3300984"/>
            <a:ext cx="6400800" cy="62179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371600" y="3300984"/>
            <a:ext cx="54864" cy="62179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508760" y="3374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3741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...</a:t>
            </a:r>
            <a:r>
              <a:rPr lang="en-US" sz="1400" dirty="0" err="1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kwirth.yaml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— Kwirth will be build by a strong community! 🙌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D1E271-41FE-779D-A5BB-06B1C630A3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20000"/>
          </a:blip>
          <a:srcRect t="424" b="424"/>
          <a:stretch>
            <a:fillRect/>
          </a:stretch>
        </p:blipFill>
        <p:spPr>
          <a:xfrm>
            <a:off x="2677746" y="662940"/>
            <a:ext cx="3788508" cy="381762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14400" y="274320"/>
            <a:ext cx="7315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Kwirth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observability for Kubernetes.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❤️ — and TypeScript.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kwirthmagnify.dev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1119</Words>
  <Application>Microsoft Office PowerPoint</Application>
  <PresentationFormat>On-screen Show (16:9)</PresentationFormat>
  <Paragraphs>222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Kwirth - Join the OSS Project</dc:title>
  <dc:subject>PptxGenJS Presentation</dc:subject>
  <dc:creator>PptxGenJS</dc:creator>
  <cp:lastModifiedBy>Julio Fernandez Vilas</cp:lastModifiedBy>
  <cp:revision>8</cp:revision>
  <dcterms:created xsi:type="dcterms:W3CDTF">2026-05-03T18:17:20Z</dcterms:created>
  <dcterms:modified xsi:type="dcterms:W3CDTF">2026-05-04T10:31:02Z</dcterms:modified>
</cp:coreProperties>
</file>